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9"/>
  </p:handoutMasterIdLst>
  <p:sldIdLst>
    <p:sldId id="375" r:id="rId2"/>
    <p:sldId id="305" r:id="rId3"/>
    <p:sldId id="384" r:id="rId4"/>
    <p:sldId id="273" r:id="rId5"/>
    <p:sldId id="298" r:id="rId6"/>
    <p:sldId id="406" r:id="rId7"/>
    <p:sldId id="30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5256" autoAdjust="0"/>
  </p:normalViewPr>
  <p:slideViewPr>
    <p:cSldViewPr snapToGrid="0" snapToObjects="1">
      <p:cViewPr>
        <p:scale>
          <a:sx n="82" d="100"/>
          <a:sy n="82" d="100"/>
        </p:scale>
        <p:origin x="720" y="67"/>
      </p:cViewPr>
      <p:guideLst/>
    </p:cSldViewPr>
  </p:slideViewPr>
  <p:outlineViewPr>
    <p:cViewPr>
      <p:scale>
        <a:sx n="33" d="100"/>
        <a:sy n="33" d="100"/>
      </p:scale>
      <p:origin x="0" y="-446"/>
    </p:cViewPr>
  </p:outlineViewPr>
  <p:notesTextViewPr>
    <p:cViewPr>
      <p:scale>
        <a:sx n="1" d="1"/>
        <a:sy n="1" d="1"/>
      </p:scale>
      <p:origin x="0" y="0"/>
    </p:cViewPr>
  </p:notesTextViewPr>
  <p:notesViewPr>
    <p:cSldViewPr snapToGrid="0" snapToObjects="1">
      <p:cViewPr varScale="1">
        <p:scale>
          <a:sx n="87" d="100"/>
          <a:sy n="87" d="100"/>
        </p:scale>
        <p:origin x="2696"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F17359-000A-9044-B834-9FBD0018D5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98B882-BA21-D947-B59A-B375F7B018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773F5E-F60B-3D42-A6DD-6D5611C2F6EE}" type="datetimeFigureOut">
              <a:rPr lang="en-US" smtClean="0"/>
              <a:t>2/1/2022</a:t>
            </a:fld>
            <a:endParaRPr lang="en-US" dirty="0"/>
          </a:p>
        </p:txBody>
      </p:sp>
      <p:sp>
        <p:nvSpPr>
          <p:cNvPr id="4" name="Footer Placeholder 3">
            <a:extLst>
              <a:ext uri="{FF2B5EF4-FFF2-40B4-BE49-F238E27FC236}">
                <a16:creationId xmlns:a16="http://schemas.microsoft.com/office/drawing/2014/main" id="{8219AD5B-1A75-1A4A-8459-A96AB79E9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49C6818-84EB-2D43-AA44-FC64C4595B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28A1AC-D174-D44D-BB31-612041F19AA1}" type="slidenum">
              <a:rPr lang="en-US" smtClean="0"/>
              <a:t>‹#›</a:t>
            </a:fld>
            <a:endParaRPr lang="en-US" dirty="0"/>
          </a:p>
        </p:txBody>
      </p:sp>
    </p:spTree>
    <p:extLst>
      <p:ext uri="{BB962C8B-B14F-4D97-AF65-F5344CB8AC3E}">
        <p14:creationId xmlns:p14="http://schemas.microsoft.com/office/powerpoint/2010/main" val="357517033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2946"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D7A90A1-A930-7E45-A0C6-7B528BC17B68}"/>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289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6093055"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0" y="1720312"/>
            <a:ext cx="60930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81424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34319" y="0"/>
            <a:ext cx="1105768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3756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_5">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0"/>
            <a:ext cx="1219200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DB4FF4E3-951F-F040-800F-0DDAC2CCC507}"/>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422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9790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1521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011522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21F7CE-A4E6-574A-B490-8FC4327728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51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057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_4">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91DF7114-976E-3345-A7C4-77F951EA42C4}"/>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06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_5">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CCA2E80D-B045-2346-9C1F-70BFBD4AF7BA}"/>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40B4699-8C04-D74B-BFAF-27221E81DEBB}"/>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70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215342"/>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E71328B3-338C-BB43-A9F5-AACCE2E54E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69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928264"/>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4498670"/>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1928264"/>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327254B-5501-7248-A89F-42912B5A8BD2}"/>
              </a:ext>
            </a:extLst>
          </p:cNvPr>
          <p:cNvCxnSpPr>
            <a:cxnSpLocks/>
          </p:cNvCxnSpPr>
          <p:nvPr userDrawn="1"/>
        </p:nvCxnSpPr>
        <p:spPr>
          <a:xfrm>
            <a:off x="0" y="1405468"/>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005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_4">
    <p:bg>
      <p:bgPr>
        <a:solidFill>
          <a:schemeClr val="accent4">
            <a:lumMod val="50000"/>
          </a:schemeClr>
        </a:solidFill>
        <a:effectLst/>
      </p:bgPr>
    </p:bg>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1124487" y="0"/>
            <a:ext cx="11067514"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24487" y="-1"/>
            <a:ext cx="11067514"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6C4B436F-A511-A141-900B-BA20A19A1BCE}"/>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08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_5">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0" y="0"/>
            <a:ext cx="12192001"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4A57CAA2-2658-B441-A787-4B54C65D3BF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23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w/Caption_1">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52400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6338806"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1524000"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0" name="Straight Connector 9">
            <a:extLst>
              <a:ext uri="{FF2B5EF4-FFF2-40B4-BE49-F238E27FC236}">
                <a16:creationId xmlns:a16="http://schemas.microsoft.com/office/drawing/2014/main" id="{F2E583C8-CCA8-BB4A-B8AA-4ED85B62E67F}"/>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65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Caption_2">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635662"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820856"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1" name="Straight Connector 10">
            <a:extLst>
              <a:ext uri="{FF2B5EF4-FFF2-40B4-BE49-F238E27FC236}">
                <a16:creationId xmlns:a16="http://schemas.microsoft.com/office/drawing/2014/main" id="{4C8C2B99-ED08-1F48-BE5D-40E40D09C7B7}"/>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87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Caption_3">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08843" y="3482977"/>
            <a:ext cx="10961177"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10" name="Straight Connector 9">
            <a:extLst>
              <a:ext uri="{FF2B5EF4-FFF2-40B4-BE49-F238E27FC236}">
                <a16:creationId xmlns:a16="http://schemas.microsoft.com/office/drawing/2014/main" id="{79B33817-49F3-B440-A271-466603AE1964}"/>
              </a:ext>
            </a:extLst>
          </p:cNvPr>
          <p:cNvCxnSpPr>
            <a:cxnSpLocks/>
          </p:cNvCxnSpPr>
          <p:nvPr userDrawn="1"/>
        </p:nvCxnSpPr>
        <p:spPr>
          <a:xfrm>
            <a:off x="0" y="421214"/>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8576316B-7498-2E42-9B52-88BF1C9DF40C}"/>
              </a:ext>
            </a:extLst>
          </p:cNvPr>
          <p:cNvSpPr>
            <a:spLocks noGrp="1"/>
          </p:cNvSpPr>
          <p:nvPr>
            <p:ph idx="1" hasCustomPrompt="1"/>
          </p:nvPr>
        </p:nvSpPr>
        <p:spPr>
          <a:xfrm>
            <a:off x="5567465"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451775DA-49A0-2F4D-9F21-5D20DA6BA9B6}"/>
              </a:ext>
            </a:extLst>
          </p:cNvPr>
          <p:cNvSpPr>
            <a:spLocks noGrp="1"/>
          </p:cNvSpPr>
          <p:nvPr>
            <p:ph type="ctrTitle"/>
          </p:nvPr>
        </p:nvSpPr>
        <p:spPr>
          <a:xfrm>
            <a:off x="608844"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4964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Caption_4">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5" name="Straight Connector 4">
            <a:extLst>
              <a:ext uri="{FF2B5EF4-FFF2-40B4-BE49-F238E27FC236}">
                <a16:creationId xmlns:a16="http://schemas.microsoft.com/office/drawing/2014/main" id="{40C0F668-C1BA-A349-A542-9E54E73E8178}"/>
              </a:ext>
            </a:extLst>
          </p:cNvPr>
          <p:cNvCxnSpPr>
            <a:cxnSpLocks/>
          </p:cNvCxnSpPr>
          <p:nvPr userDrawn="1"/>
        </p:nvCxnSpPr>
        <p:spPr>
          <a:xfrm>
            <a:off x="4961621" y="339644"/>
            <a:ext cx="0" cy="2806512"/>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339644"/>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780326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Caption_5">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5" name="Straight Connector 14">
            <a:extLst>
              <a:ext uri="{FF2B5EF4-FFF2-40B4-BE49-F238E27FC236}">
                <a16:creationId xmlns:a16="http://schemas.microsoft.com/office/drawing/2014/main" id="{16414763-7D4F-994A-AAA9-7DC46C19D816}"/>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706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1627321"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706796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1627322"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7067963"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4207371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39262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5833265"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392624"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5833265"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7" name="Straight Connector 16">
            <a:extLst>
              <a:ext uri="{FF2B5EF4-FFF2-40B4-BE49-F238E27FC236}">
                <a16:creationId xmlns:a16="http://schemas.microsoft.com/office/drawing/2014/main" id="{E28CCA37-00BD-0A43-8647-67DD0510A7E3}"/>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9196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81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_5">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C5233AE2-5078-C34D-8EAD-6F7B344F5241}"/>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24699EEF-FB75-1A46-B6B6-39CCF65A9EA4}"/>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969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588936"/>
            <a:ext cx="11432584" cy="5976637"/>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2C41291C-383F-CF4B-AB8E-2B40741A62AF}"/>
              </a:ext>
            </a:extLst>
          </p:cNvPr>
          <p:cNvCxnSpPr>
            <a:cxnSpLocks/>
          </p:cNvCxnSpPr>
          <p:nvPr userDrawn="1"/>
        </p:nvCxnSpPr>
        <p:spPr>
          <a:xfrm>
            <a:off x="0" y="292426"/>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4C5937-11C0-4E5A-867C-7AB68EA532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19577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292426"/>
            <a:ext cx="10219457"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4" name="Straight Connector 3">
            <a:extLst>
              <a:ext uri="{FF2B5EF4-FFF2-40B4-BE49-F238E27FC236}">
                <a16:creationId xmlns:a16="http://schemas.microsoft.com/office/drawing/2014/main" id="{F516C013-C8E5-B44C-B6D6-DE71D0CC52C4}"/>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4E2D069-321B-434C-BB63-530EE51B64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218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134319" y="0"/>
            <a:ext cx="1105768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DCA0415B-CCA3-7142-BDAA-6DAC63FB634C}"/>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3040D77-4CF4-4BFB-9FFB-8C9746D390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92647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_5">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43A34E77-65E8-214A-93DD-907ECB950F42}"/>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9C15D6B-DF62-4A31-87F3-2084A6C590A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478934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6993359"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257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0"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5711877"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5708797"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4037ED-B73E-2946-8FAC-2803EA71C585}"/>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267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Content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134319" y="1"/>
            <a:ext cx="11057681"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394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and Content_5">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 y="1"/>
            <a:ext cx="12192000"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9E9592-D634-1947-B3FB-EB3B7F16FF28}"/>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6D456EAF-F3B8-AF4A-90FF-4B0693C56A33}"/>
              </a:ext>
            </a:extLst>
          </p:cNvPr>
          <p:cNvSpPr>
            <a:spLocks noGrp="1"/>
          </p:cNvSpPr>
          <p:nvPr>
            <p:ph type="ctrTitle" hasCustomPrompt="1"/>
          </p:nvPr>
        </p:nvSpPr>
        <p:spPr>
          <a:xfrm>
            <a:off x="392623"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5" name="Text Placeholder 10">
            <a:extLst>
              <a:ext uri="{FF2B5EF4-FFF2-40B4-BE49-F238E27FC236}">
                <a16:creationId xmlns:a16="http://schemas.microsoft.com/office/drawing/2014/main" id="{F7FB4ADF-1B3E-A442-B2C9-518CBE7637DB}"/>
              </a:ext>
            </a:extLst>
          </p:cNvPr>
          <p:cNvSpPr>
            <a:spLocks noGrp="1"/>
          </p:cNvSpPr>
          <p:nvPr>
            <p:ph type="body" sz="quarter" idx="14"/>
          </p:nvPr>
        </p:nvSpPr>
        <p:spPr>
          <a:xfrm>
            <a:off x="392624"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8996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Image and Caption_1">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445942"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1645581" y="4418889"/>
            <a:ext cx="3289100"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1645582" y="5080791"/>
            <a:ext cx="3289100"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776AC280-5A8D-B048-BECC-9C306F32508F}"/>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676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46059"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7313354" y="4418889"/>
            <a:ext cx="3289100"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7313355" y="5080791"/>
            <a:ext cx="3289100"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B39C4094-208E-7E4A-848A-F76A1573073A}"/>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3550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nd Caption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445942"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4418889"/>
            <a:ext cx="4609683"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5080791"/>
            <a:ext cx="4609683"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BE71BC7-72EE-294C-9A39-61A77EE295A0}"/>
              </a:ext>
            </a:extLst>
          </p:cNvPr>
          <p:cNvCxnSpPr>
            <a:cxnSpLocks/>
          </p:cNvCxnSpPr>
          <p:nvPr userDrawn="1"/>
        </p:nvCxnSpPr>
        <p:spPr>
          <a:xfrm>
            <a:off x="392623" y="5080791"/>
            <a:ext cx="4609683"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7384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and Caption_4">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1645581" y="4418889"/>
            <a:ext cx="3289100"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1645582" y="5080791"/>
            <a:ext cx="3289100"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776AC280-5A8D-B048-BECC-9C306F32508F}"/>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9061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and Caption_5">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1F4417F7-7CDE-DF44-9B0E-AC44EE99BF4B}"/>
              </a:ext>
            </a:extLst>
          </p:cNvPr>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3429000"/>
            <a:ext cx="4609683"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4090902"/>
            <a:ext cx="4609683"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79F22032-BAB9-744C-B14E-54350BBD1C7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2380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verview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2" y="339645"/>
            <a:ext cx="1021945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noProof="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2"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2" y="2366353"/>
            <a:ext cx="369944" cy="368788"/>
          </a:xfrm>
        </p:spPr>
        <p:txBody>
          <a:bodyPr anchor="ctr">
            <a:normAutofit/>
          </a:bodyPr>
          <a:lstStyle>
            <a:lvl1pPr marL="0" indent="0" algn="ctr">
              <a:buNone/>
              <a:defRPr sz="800"/>
            </a:lvl1pPr>
          </a:lstStyle>
          <a:p>
            <a:r>
              <a:rPr lang="en-US" noProof="0"/>
              <a:t>Click icon to add picture</a:t>
            </a:r>
            <a:endParaRPr lang="en-US" noProof="0" dirty="0"/>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2" y="3592038"/>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2" y="4856634"/>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5605550"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5683052" y="2366353"/>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561099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5683052" y="3592038"/>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561099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5683052" y="4856634"/>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2257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22570"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2257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22570"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2257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22570"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650044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6500441"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650044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6500441"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650044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6500441"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cxnSp>
        <p:nvCxnSpPr>
          <p:cNvPr id="42" name="Straight Connector 41">
            <a:extLst>
              <a:ext uri="{FF2B5EF4-FFF2-40B4-BE49-F238E27FC236}">
                <a16:creationId xmlns:a16="http://schemas.microsoft.com/office/drawing/2014/main" id="{58A232C0-1AC5-164D-B8B6-CC8F07CF2E21}"/>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307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verview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3"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428792"/>
            <a:ext cx="369944" cy="368788"/>
          </a:xfrm>
        </p:spPr>
        <p:txBody>
          <a:bodyPr anchor="ctr">
            <a:normAutofit/>
          </a:bodyPr>
          <a:lstStyle>
            <a:lvl1pPr marL="0" indent="0" algn="ctr">
              <a:buNone/>
              <a:defRPr sz="800"/>
            </a:lvl1pPr>
          </a:lstStyle>
          <a:p>
            <a:r>
              <a:rPr lang="en-US" noProof="0"/>
              <a:t>Click icon to add picture</a:t>
            </a:r>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3"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654477"/>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3"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919073"/>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6472581"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428792"/>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6472581"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654477"/>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6472581"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919073"/>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44026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verview_4">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D2B2CC15-A5D6-7646-B184-255F86FB708E}"/>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10113030"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173089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173089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173089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94926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94926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94926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248878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2488784"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248878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2488784"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248878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2488784"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76665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766655"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76665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766655"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76665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766655"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41" name="Straight Connector 40">
            <a:extLst>
              <a:ext uri="{FF2B5EF4-FFF2-40B4-BE49-F238E27FC236}">
                <a16:creationId xmlns:a16="http://schemas.microsoft.com/office/drawing/2014/main" id="{2D604C81-B013-4641-9B16-5E9ECBD30CBA}"/>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11681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verview_5">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C76CA39F-4826-EC4A-B911-A0B38E489269}"/>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2/1/2022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974810"/>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2038081"/>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79" name="Straight Connector 78">
            <a:extLst>
              <a:ext uri="{FF2B5EF4-FFF2-40B4-BE49-F238E27FC236}">
                <a16:creationId xmlns:a16="http://schemas.microsoft.com/office/drawing/2014/main" id="{6AF7CBB0-F32C-B84C-AEEA-FA0944BBB865}"/>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58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02FA6-24E0-3C4A-8B7A-F529DB122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845A71-C369-2A42-A14F-2BD1985F75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70798-FB93-8742-9A92-FA7A241AFA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56824-A55C-4F44-B9CB-109B027241D7}" type="datetimeFigureOut">
              <a:rPr lang="en-US" smtClean="0"/>
              <a:t>2/1/2022</a:t>
            </a:fld>
            <a:endParaRPr lang="en-US" dirty="0"/>
          </a:p>
        </p:txBody>
      </p:sp>
      <p:sp>
        <p:nvSpPr>
          <p:cNvPr id="5" name="Footer Placeholder 4">
            <a:extLst>
              <a:ext uri="{FF2B5EF4-FFF2-40B4-BE49-F238E27FC236}">
                <a16:creationId xmlns:a16="http://schemas.microsoft.com/office/drawing/2014/main" id="{7642A715-D537-DD4B-8BE6-1E573155F1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FA9E735-B191-784C-98F7-65384DACA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6627B-E4D5-2947-8E88-B84039729B99}" type="slidenum">
              <a:rPr lang="en-US" smtClean="0"/>
              <a:t>‹#›</a:t>
            </a:fld>
            <a:endParaRPr lang="en-US" dirty="0"/>
          </a:p>
        </p:txBody>
      </p:sp>
    </p:spTree>
    <p:extLst>
      <p:ext uri="{BB962C8B-B14F-4D97-AF65-F5344CB8AC3E}">
        <p14:creationId xmlns:p14="http://schemas.microsoft.com/office/powerpoint/2010/main" val="2234582933"/>
      </p:ext>
    </p:extLst>
  </p:cSld>
  <p:clrMap bg1="lt1" tx1="dk1" bg2="lt2" tx2="dk2" accent1="accent1" accent2="accent2" accent3="accent3" accent4="accent4" accent5="accent5" accent6="accent6" hlink="hlink" folHlink="folHlink"/>
  <p:sldLayoutIdLst>
    <p:sldLayoutId id="2147483669" r:id="rId1"/>
    <p:sldLayoutId id="2147483673" r:id="rId2"/>
    <p:sldLayoutId id="2147483670" r:id="rId3"/>
    <p:sldLayoutId id="2147483674" r:id="rId4"/>
    <p:sldLayoutId id="2147483661" r:id="rId5"/>
    <p:sldLayoutId id="2147483676" r:id="rId6"/>
    <p:sldLayoutId id="2147483675" r:id="rId7"/>
    <p:sldLayoutId id="2147483677" r:id="rId8"/>
    <p:sldLayoutId id="2147483678" r:id="rId9"/>
    <p:sldLayoutId id="2147483679" r:id="rId10"/>
    <p:sldLayoutId id="2147483681" r:id="rId11"/>
    <p:sldLayoutId id="2147483682" r:id="rId12"/>
    <p:sldLayoutId id="2147483686" r:id="rId13"/>
    <p:sldLayoutId id="2147483663" r:id="rId14"/>
    <p:sldLayoutId id="2147483683" r:id="rId15"/>
    <p:sldLayoutId id="2147483685" r:id="rId16"/>
    <p:sldLayoutId id="2147483684" r:id="rId17"/>
    <p:sldLayoutId id="2147483680" r:id="rId18"/>
    <p:sldLayoutId id="2147483691" r:id="rId19"/>
    <p:sldLayoutId id="2147483692" r:id="rId20"/>
    <p:sldLayoutId id="2147483693" r:id="rId21"/>
    <p:sldLayoutId id="2147483694" r:id="rId22"/>
    <p:sldLayoutId id="2147483688" r:id="rId23"/>
    <p:sldLayoutId id="2147483687" r:id="rId24"/>
    <p:sldLayoutId id="2147483689" r:id="rId25"/>
    <p:sldLayoutId id="2147483690" r:id="rId26"/>
    <p:sldLayoutId id="2147483695" r:id="rId27"/>
    <p:sldLayoutId id="2147483696" r:id="rId28"/>
    <p:sldLayoutId id="2147483697" r:id="rId29"/>
    <p:sldLayoutId id="2147483698" r:id="rId30"/>
    <p:sldLayoutId id="2147483667" r:id="rId31"/>
    <p:sldLayoutId id="2147483703" r:id="rId32"/>
    <p:sldLayoutId id="2147483704" r:id="rId33"/>
    <p:sldLayoutId id="2147483705" r:id="rId34"/>
    <p:sldLayoutId id="2147483706" r:id="rId35"/>
    <p:sldLayoutId id="2147483700" r:id="rId36"/>
    <p:sldLayoutId id="2147483699" r:id="rId37"/>
    <p:sldLayoutId id="2147483701" r:id="rId38"/>
    <p:sldLayoutId id="2147483702"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s://www.brettonwoodsproject.org/2020/10/art-320868/"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21" descr="Woman on tablet ">
            <a:extLst>
              <a:ext uri="{FF2B5EF4-FFF2-40B4-BE49-F238E27FC236}">
                <a16:creationId xmlns:a16="http://schemas.microsoft.com/office/drawing/2014/main" id="{DB20DB88-CBCC-9A4A-BA0A-4807E1B8E804}"/>
              </a:ext>
            </a:extLst>
          </p:cNvPr>
          <p:cNvPicPr>
            <a:picLocks noGrp="1" noChangeAspect="1"/>
          </p:cNvPicPr>
          <p:nvPr>
            <p:ph type="pic" sz="quarter" idx="10"/>
          </p:nvPr>
        </p:nvPicPr>
        <p:blipFill rotWithShape="1">
          <a:blip r:embed="rId2" cstate="screen">
            <a:duotone>
              <a:prstClr val="black"/>
              <a:schemeClr val="accent3">
                <a:tint val="45000"/>
                <a:satMod val="400000"/>
              </a:schemeClr>
            </a:duotone>
            <a:alphaModFix amt="35000"/>
            <a:extLst>
              <a:ext uri="{28A0092B-C50C-407E-A947-70E740481C1C}">
                <a14:useLocalDpi xmlns:a14="http://schemas.microsoft.com/office/drawing/2010/main"/>
              </a:ext>
            </a:extLst>
          </a:blip>
          <a:srcRect l="4632" r="4632"/>
          <a:stretch/>
        </p:blipFill>
        <p:spPr>
          <a:xfrm>
            <a:off x="1134319" y="0"/>
            <a:ext cx="11057681" cy="6858000"/>
          </a:xfrm>
        </p:spPr>
      </p:pic>
      <p:sp>
        <p:nvSpPr>
          <p:cNvPr id="6" name="Text Placeholder 5">
            <a:extLst>
              <a:ext uri="{FF2B5EF4-FFF2-40B4-BE49-F238E27FC236}">
                <a16:creationId xmlns:a16="http://schemas.microsoft.com/office/drawing/2014/main" id="{348362CB-F41D-164B-BAC7-F91A6E68A2AC}"/>
              </a:ext>
            </a:extLst>
          </p:cNvPr>
          <p:cNvSpPr>
            <a:spLocks noGrp="1"/>
          </p:cNvSpPr>
          <p:nvPr>
            <p:ph type="body" idx="13"/>
          </p:nvPr>
        </p:nvSpPr>
        <p:spPr>
          <a:xfrm>
            <a:off x="1524000" y="5286196"/>
            <a:ext cx="4179375" cy="356462"/>
          </a:xfrm>
        </p:spPr>
        <p:txBody>
          <a:bodyPr>
            <a:normAutofit fontScale="92500"/>
          </a:bodyPr>
          <a:lstStyle/>
          <a:p>
            <a:r>
              <a:rPr lang="en-US" dirty="0"/>
              <a:t>An Environmental Perspective</a:t>
            </a:r>
            <a:endParaRPr lang="id-ID" dirty="0"/>
          </a:p>
        </p:txBody>
      </p:sp>
      <p:sp>
        <p:nvSpPr>
          <p:cNvPr id="5" name="Title 4">
            <a:extLst>
              <a:ext uri="{FF2B5EF4-FFF2-40B4-BE49-F238E27FC236}">
                <a16:creationId xmlns:a16="http://schemas.microsoft.com/office/drawing/2014/main" id="{99516ACA-375D-1140-8EDA-CE04AAC75809}"/>
              </a:ext>
            </a:extLst>
          </p:cNvPr>
          <p:cNvSpPr>
            <a:spLocks noGrp="1"/>
          </p:cNvSpPr>
          <p:nvPr>
            <p:ph type="ctrTitle"/>
          </p:nvPr>
        </p:nvSpPr>
        <p:spPr>
          <a:xfrm>
            <a:off x="1524000" y="2715790"/>
            <a:ext cx="4179376" cy="2387600"/>
          </a:xfrm>
        </p:spPr>
        <p:txBody>
          <a:bodyPr>
            <a:normAutofit/>
          </a:bodyPr>
          <a:lstStyle/>
          <a:p>
            <a:r>
              <a:rPr lang="en-US" sz="4000" dirty="0"/>
              <a:t>IMPACTs of the IMF Backed TAX reforms</a:t>
            </a:r>
          </a:p>
        </p:txBody>
      </p:sp>
    </p:spTree>
    <p:extLst>
      <p:ext uri="{BB962C8B-B14F-4D97-AF65-F5344CB8AC3E}">
        <p14:creationId xmlns:p14="http://schemas.microsoft.com/office/powerpoint/2010/main" val="428584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p:txBody>
          <a:bodyPr/>
          <a:lstStyle/>
          <a:p>
            <a:r>
              <a:rPr lang="en-US" dirty="0"/>
              <a:t>Background to the Reforms</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p:txBody>
          <a:bodyPr>
            <a:normAutofit lnSpcReduction="10000"/>
          </a:bodyPr>
          <a:lstStyle/>
          <a:p>
            <a:pPr marL="285750" indent="-285750">
              <a:buFont typeface="Arial" panose="020B0604020202020204" pitchFamily="34" charset="0"/>
              <a:buChar char="•"/>
            </a:pPr>
            <a:r>
              <a:rPr lang="en-US" sz="2000" b="0" i="0" dirty="0">
                <a:solidFill>
                  <a:srgbClr val="323232"/>
                </a:solidFill>
                <a:effectLst/>
                <a:latin typeface="aller_lightregular"/>
              </a:rPr>
              <a:t>The </a:t>
            </a:r>
            <a:r>
              <a:rPr lang="en-US" sz="2000" dirty="0">
                <a:solidFill>
                  <a:srgbClr val="323232"/>
                </a:solidFill>
                <a:latin typeface="aller_lightregular"/>
              </a:rPr>
              <a:t>tax reforms introduced through the Finance Supplement Bill (2021) (or “mini budget”) which was bulldozed through the Assembly. </a:t>
            </a:r>
          </a:p>
          <a:p>
            <a:pPr marL="285750" indent="-285750">
              <a:buFont typeface="Arial" panose="020B0604020202020204" pitchFamily="34" charset="0"/>
              <a:buChar char="•"/>
            </a:pPr>
            <a:r>
              <a:rPr lang="en-US" sz="2000" dirty="0">
                <a:solidFill>
                  <a:srgbClr val="323232"/>
                </a:solidFill>
                <a:latin typeface="aller_lightregular"/>
              </a:rPr>
              <a:t>Under the new reforms, GOP has now withdrawn exemptions on renewable technologies, instituting a 20% tax on solar panels and wind turbines, as well as a 12% increase in sales tax for imported electric vehicles. </a:t>
            </a:r>
          </a:p>
          <a:p>
            <a:pPr marL="285750" indent="-285750">
              <a:buFont typeface="Arial" panose="020B0604020202020204" pitchFamily="34" charset="0"/>
              <a:buChar char="•"/>
            </a:pPr>
            <a:r>
              <a:rPr lang="en-US" sz="2000" dirty="0">
                <a:solidFill>
                  <a:srgbClr val="323232"/>
                </a:solidFill>
                <a:latin typeface="aller_lightregular"/>
              </a:rPr>
              <a:t>Additionally, plants, machineries, installation products and other technologies related to renewables such as inverters, and batteries have also been taxed, and taxes have also been increased on hybrid vehicles.   </a:t>
            </a:r>
          </a:p>
          <a:p>
            <a:pPr marL="285750" indent="-285750">
              <a:buFont typeface="Arial" panose="020B0604020202020204" pitchFamily="34" charset="0"/>
              <a:buChar char="•"/>
            </a:pPr>
            <a:r>
              <a:rPr lang="en-US"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present tax reforms have been undertaken in order to meet the IMF’s “prior action” conditions </a:t>
            </a:r>
            <a:r>
              <a:rPr lang="en-US" sz="20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to enable the release of the next $1 billion tranche under the EFF program following the sixth review under the program.</a:t>
            </a:r>
            <a:endParaRPr lang="en-US" sz="2000" dirty="0">
              <a:solidFill>
                <a:srgbClr val="323232"/>
              </a:solidFill>
              <a:latin typeface="aller_lightregular"/>
            </a:endParaRPr>
          </a:p>
          <a:p>
            <a:pPr marL="285750" indent="-285750">
              <a:buFont typeface="Arial" panose="020B0604020202020204" pitchFamily="34" charset="0"/>
              <a:buChar char="•"/>
            </a:pPr>
            <a:r>
              <a:rPr lang="en-US" sz="2000" b="0" i="0" dirty="0">
                <a:solidFill>
                  <a:srgbClr val="323232"/>
                </a:solidFill>
                <a:effectLst/>
                <a:latin typeface="aller_lightregular"/>
              </a:rPr>
              <a:t>The 39-month, $6 billion </a:t>
            </a:r>
            <a:r>
              <a:rPr lang="en-US" sz="2000" b="1" i="0" dirty="0">
                <a:solidFill>
                  <a:srgbClr val="1B1B1B"/>
                </a:solidFill>
                <a:effectLst/>
                <a:latin typeface="aller_lightregular"/>
                <a:hlinkClick r:id="rId2"/>
              </a:rPr>
              <a:t>Extended Fund Facility</a:t>
            </a:r>
            <a:r>
              <a:rPr lang="en-US" sz="2000" b="0" i="0" dirty="0">
                <a:solidFill>
                  <a:srgbClr val="323232"/>
                </a:solidFill>
                <a:effectLst/>
                <a:latin typeface="aller_lightregular"/>
              </a:rPr>
              <a:t> (EFF) arrangement, began in 2019, and was suspended in January 2020 because Pakistan resisted IMF recommendations to increase electricity prices and impose additional taxes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2529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5" descr="People reviewing floor plans">
            <a:extLst>
              <a:ext uri="{FF2B5EF4-FFF2-40B4-BE49-F238E27FC236}">
                <a16:creationId xmlns:a16="http://schemas.microsoft.com/office/drawing/2014/main" id="{C4C2D77A-C801-9B4E-B6FB-9402525D52F3}"/>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a:fillRect/>
          </a:stretch>
        </p:blipFill>
        <p:spPr/>
      </p:pic>
      <p:sp>
        <p:nvSpPr>
          <p:cNvPr id="6" name="Text Placeholder 5">
            <a:extLst>
              <a:ext uri="{FF2B5EF4-FFF2-40B4-BE49-F238E27FC236}">
                <a16:creationId xmlns:a16="http://schemas.microsoft.com/office/drawing/2014/main" id="{348362CB-F41D-164B-BAC7-F91A6E68A2AC}"/>
              </a:ext>
            </a:extLst>
          </p:cNvPr>
          <p:cNvSpPr>
            <a:spLocks noGrp="1"/>
          </p:cNvSpPr>
          <p:nvPr>
            <p:ph type="body" idx="13"/>
          </p:nvPr>
        </p:nvSpPr>
        <p:spPr/>
        <p:txBody>
          <a:bodyPr/>
          <a:lstStyle/>
          <a:p>
            <a:r>
              <a:rPr lang="en-US" dirty="0">
                <a:solidFill>
                  <a:schemeClr val="bg1"/>
                </a:solidFill>
              </a:rPr>
              <a:t>Market impacts</a:t>
            </a:r>
            <a:endParaRPr lang="id-ID" dirty="0">
              <a:solidFill>
                <a:schemeClr val="bg1"/>
              </a:solidFill>
            </a:endParaRPr>
          </a:p>
        </p:txBody>
      </p:sp>
      <p:sp>
        <p:nvSpPr>
          <p:cNvPr id="5" name="Title 4">
            <a:extLst>
              <a:ext uri="{FF2B5EF4-FFF2-40B4-BE49-F238E27FC236}">
                <a16:creationId xmlns:a16="http://schemas.microsoft.com/office/drawing/2014/main" id="{99516ACA-375D-1140-8EDA-CE04AAC75809}"/>
              </a:ext>
            </a:extLst>
          </p:cNvPr>
          <p:cNvSpPr>
            <a:spLocks noGrp="1"/>
          </p:cNvSpPr>
          <p:nvPr>
            <p:ph type="ctrTitle"/>
          </p:nvPr>
        </p:nvSpPr>
        <p:spPr/>
        <p:txBody>
          <a:bodyPr>
            <a:normAutofit fontScale="90000"/>
          </a:bodyPr>
          <a:lstStyle/>
          <a:p>
            <a:r>
              <a:rPr lang="en-US" sz="3600" dirty="0"/>
              <a:t>Social and Environmental effects of</a:t>
            </a:r>
            <a:r>
              <a:rPr lang="en-US" sz="3600" dirty="0">
                <a:solidFill>
                  <a:schemeClr val="bg1"/>
                </a:solidFill>
              </a:rPr>
              <a:t> the new tax on  renewables</a:t>
            </a:r>
          </a:p>
        </p:txBody>
      </p:sp>
    </p:spTree>
    <p:extLst>
      <p:ext uri="{BB962C8B-B14F-4D97-AF65-F5344CB8AC3E}">
        <p14:creationId xmlns:p14="http://schemas.microsoft.com/office/powerpoint/2010/main" val="4067864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7">
            <a:extLst>
              <a:ext uri="{FF2B5EF4-FFF2-40B4-BE49-F238E27FC236}">
                <a16:creationId xmlns:a16="http://schemas.microsoft.com/office/drawing/2014/main" id="{F052F1AC-BE37-2941-839E-B43E10537AD8}"/>
              </a:ext>
            </a:extLst>
          </p:cNvPr>
          <p:cNvPicPr>
            <a:picLocks noGrp="1" noChangeAspect="1"/>
          </p:cNvPicPr>
          <p:nvPr>
            <p:ph type="pic" sz="quarter" idx="10"/>
          </p:nvPr>
        </p:nvPicPr>
        <p:blipFill>
          <a:blip r:embed="rId2"/>
          <a:srcRect/>
          <a:stretch/>
        </p:blipFill>
        <p:spPr>
          <a:xfrm>
            <a:off x="1358283" y="3482975"/>
            <a:ext cx="10200443" cy="3375025"/>
          </a:xfrm>
        </p:spPr>
      </p:pic>
      <p:sp>
        <p:nvSpPr>
          <p:cNvPr id="7" name="Text Placeholder 6">
            <a:extLst>
              <a:ext uri="{FF2B5EF4-FFF2-40B4-BE49-F238E27FC236}">
                <a16:creationId xmlns:a16="http://schemas.microsoft.com/office/drawing/2014/main" id="{F671A034-1CDF-8B46-90C5-63321B0C91BE}"/>
              </a:ext>
            </a:extLst>
          </p:cNvPr>
          <p:cNvSpPr>
            <a:spLocks noGrp="1"/>
          </p:cNvSpPr>
          <p:nvPr>
            <p:ph idx="1"/>
          </p:nvPr>
        </p:nvSpPr>
        <p:spPr/>
        <p:txBody>
          <a:bodyPr>
            <a:normAutofit fontScale="70000" lnSpcReduction="20000"/>
          </a:bodyPr>
          <a:lstStyle/>
          <a:p>
            <a:pPr marL="0" indent="0">
              <a:buNone/>
            </a:pPr>
            <a:r>
              <a:rPr lang="en-US" sz="16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  </a:t>
            </a: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Between 2015 and 2019, there has been a boom in solar    PV installations in off-grid and weak grid regions. </a:t>
            </a:r>
            <a:endPar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endParaRPr>
          </a:p>
          <a:p>
            <a:pPr>
              <a:buFontTx/>
              <a:buChar char="-"/>
            </a:pP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S</a:t>
            </a: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olar is most suitable for powering tube wells, water purification systems, and pumps for irrigation in remote areas. </a:t>
            </a:r>
          </a:p>
          <a:p>
            <a:pPr>
              <a:buFontTx/>
              <a:buChar char="-"/>
            </a:pP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The beneficiaries are therefore poor farming communities in underdeveloped areas.</a:t>
            </a:r>
          </a:p>
          <a:p>
            <a:pPr>
              <a:buFontTx/>
              <a:buChar char="-"/>
            </a:pP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Solar technology, however, is </a:t>
            </a: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an </a:t>
            </a: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import based market, and farming communities and the residential sector are key drivers of solar are also price-sensitive users. </a:t>
            </a:r>
          </a:p>
          <a:p>
            <a:pPr>
              <a:buFontTx/>
              <a:buChar char="-"/>
            </a:pP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This </a:t>
            </a: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growth is tied to </a:t>
            </a: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the GOP’s earlier decision to waive off taxes on solar products. Rising costs under the new levies will force the neediest users out of the market</a:t>
            </a:r>
            <a:endParaRPr lang="en-US" sz="2100" dirty="0"/>
          </a:p>
        </p:txBody>
      </p:sp>
      <p:sp>
        <p:nvSpPr>
          <p:cNvPr id="21" name="Title 20">
            <a:extLst>
              <a:ext uri="{FF2B5EF4-FFF2-40B4-BE49-F238E27FC236}">
                <a16:creationId xmlns:a16="http://schemas.microsoft.com/office/drawing/2014/main" id="{B3E69B71-5849-7541-ADEA-D19838B3CF0C}"/>
              </a:ext>
            </a:extLst>
          </p:cNvPr>
          <p:cNvSpPr>
            <a:spLocks noGrp="1"/>
          </p:cNvSpPr>
          <p:nvPr>
            <p:ph type="ctrTitle"/>
          </p:nvPr>
        </p:nvSpPr>
        <p:spPr/>
        <p:txBody>
          <a:bodyPr>
            <a:normAutofit/>
          </a:bodyPr>
          <a:lstStyle/>
          <a:p>
            <a:r>
              <a:rPr lang="en-US" sz="3600" dirty="0"/>
              <a:t>Hinders access to cheap energy for  vulnerable communities </a:t>
            </a:r>
          </a:p>
        </p:txBody>
      </p:sp>
    </p:spTree>
    <p:extLst>
      <p:ext uri="{BB962C8B-B14F-4D97-AF65-F5344CB8AC3E}">
        <p14:creationId xmlns:p14="http://schemas.microsoft.com/office/powerpoint/2010/main" val="2167823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E93AABDC-C3FD-F345-990B-6E2D88310423}"/>
              </a:ext>
            </a:extLst>
          </p:cNvPr>
          <p:cNvSpPr>
            <a:spLocks noGrp="1"/>
          </p:cNvSpPr>
          <p:nvPr>
            <p:ph type="ctrTitle"/>
          </p:nvPr>
        </p:nvSpPr>
        <p:spPr>
          <a:xfrm>
            <a:off x="1627321" y="201643"/>
            <a:ext cx="10251001" cy="1449604"/>
          </a:xfrm>
        </p:spPr>
        <p:txBody>
          <a:bodyPr/>
          <a:lstStyle/>
          <a:p>
            <a:r>
              <a:rPr lang="en-US" sz="3200" dirty="0"/>
              <a:t>Reforms are inconsistent with Pakistan’s Environmental policies, and Energy and TRANSPORT SECTOR planning </a:t>
            </a:r>
          </a:p>
        </p:txBody>
      </p:sp>
      <p:sp>
        <p:nvSpPr>
          <p:cNvPr id="3" name="Content Placeholder 2">
            <a:extLst>
              <a:ext uri="{FF2B5EF4-FFF2-40B4-BE49-F238E27FC236}">
                <a16:creationId xmlns:a16="http://schemas.microsoft.com/office/drawing/2014/main" id="{65315FCB-0039-EF4F-AFE0-33905D91929E}"/>
              </a:ext>
            </a:extLst>
          </p:cNvPr>
          <p:cNvSpPr>
            <a:spLocks noGrp="1"/>
          </p:cNvSpPr>
          <p:nvPr>
            <p:ph sz="half" idx="1"/>
          </p:nvPr>
        </p:nvSpPr>
        <p:spPr>
          <a:xfrm>
            <a:off x="1627321" y="2810218"/>
            <a:ext cx="4693727" cy="3846139"/>
          </a:xfrm>
        </p:spPr>
        <p:txBody>
          <a:bodyPr>
            <a:normAutofit fontScale="92500"/>
          </a:bodyPr>
          <a:lstStyle/>
          <a:p>
            <a:r>
              <a:rPr lang="en-US" dirty="0"/>
              <a:t>Prescribes a minimum of 30% renewables based generation on-grid by 2030.</a:t>
            </a:r>
          </a:p>
          <a:p>
            <a:r>
              <a:rPr lang="en-US" dirty="0"/>
              <a:t>Goal </a:t>
            </a:r>
            <a:r>
              <a:rPr lang="en-US" dirty="0">
                <a:sym typeface="Wingdings" panose="05000000000000000000" pitchFamily="2" charset="2"/>
              </a:rPr>
              <a:t> </a:t>
            </a:r>
            <a:r>
              <a:rPr lang="en-US" dirty="0"/>
              <a:t>Reduce emissions and costs by displacing fuel sources. Integrate cheap renewables into off-grid solutions private contracts, and rural energy services</a:t>
            </a:r>
          </a:p>
          <a:p>
            <a:r>
              <a:rPr lang="en-US" dirty="0"/>
              <a:t>How? </a:t>
            </a:r>
            <a:r>
              <a:rPr lang="en-US" dirty="0">
                <a:sym typeface="Wingdings" panose="05000000000000000000" pitchFamily="2" charset="2"/>
              </a:rPr>
              <a:t> </a:t>
            </a:r>
            <a:r>
              <a:rPr lang="en-US" dirty="0"/>
              <a:t>incentivize investments and “buy-ins” from fuel-based producers and self-generating agricultural and industrial consumers. </a:t>
            </a:r>
          </a:p>
          <a:p>
            <a:r>
              <a:rPr lang="en-US" dirty="0"/>
              <a:t>Present NEPRA tariffs for solar/wind power are suited to making renewables competitive</a:t>
            </a:r>
          </a:p>
          <a:p>
            <a:r>
              <a:rPr lang="en-US" dirty="0"/>
              <a:t>BUT new tax regime raise upfront capital costs </a:t>
            </a:r>
            <a:r>
              <a:rPr lang="en-US" dirty="0">
                <a:sym typeface="Wingdings" panose="05000000000000000000" pitchFamily="2" charset="2"/>
              </a:rPr>
              <a:t> </a:t>
            </a:r>
            <a:r>
              <a:rPr lang="en-US" dirty="0"/>
              <a:t> raising overall generation costs </a:t>
            </a:r>
            <a:r>
              <a:rPr lang="en-US" dirty="0">
                <a:sym typeface="Wingdings" panose="05000000000000000000" pitchFamily="2" charset="2"/>
              </a:rPr>
              <a:t> users won’t opt out of fuel-based arrangements defeating the key mechanism for reducing emissions</a:t>
            </a:r>
            <a:endParaRPr lang="en-US" dirty="0"/>
          </a:p>
          <a:p>
            <a:endParaRPr lang="en-US" dirty="0"/>
          </a:p>
        </p:txBody>
      </p:sp>
      <p:sp>
        <p:nvSpPr>
          <p:cNvPr id="16" name="Content Placeholder 15">
            <a:extLst>
              <a:ext uri="{FF2B5EF4-FFF2-40B4-BE49-F238E27FC236}">
                <a16:creationId xmlns:a16="http://schemas.microsoft.com/office/drawing/2014/main" id="{61E23B57-A482-8F4B-9021-86FE326A6D10}"/>
              </a:ext>
            </a:extLst>
          </p:cNvPr>
          <p:cNvSpPr>
            <a:spLocks noGrp="1"/>
          </p:cNvSpPr>
          <p:nvPr>
            <p:ph sz="half" idx="2"/>
          </p:nvPr>
        </p:nvSpPr>
        <p:spPr>
          <a:xfrm>
            <a:off x="7067963" y="2810217"/>
            <a:ext cx="4695165" cy="3217721"/>
          </a:xfrm>
        </p:spPr>
        <p:txBody>
          <a:bodyPr>
            <a:normAutofit lnSpcReduction="10000"/>
          </a:bodyPr>
          <a:lstStyle/>
          <a:p>
            <a:r>
              <a:rPr lang="en-US" dirty="0"/>
              <a:t>prescribes a minimum 30% sales penetration of electric vehicles (EVs) by 2030.</a:t>
            </a:r>
          </a:p>
          <a:p>
            <a:r>
              <a:rPr lang="en-US" dirty="0"/>
              <a:t>Needs robust tax incentives for developing the fledgling import-based market</a:t>
            </a:r>
          </a:p>
          <a:p>
            <a:r>
              <a:rPr lang="en-US" dirty="0"/>
              <a:t>Quote from policy: “govts around the world give subsidies, incentives and tax breaks for EV adoption,” and these benefits “end up paying for themselves with savings in fuel imports, reduction in emission related costs, usage of idle electricity capacity, and income from charging revenues.” </a:t>
            </a:r>
          </a:p>
          <a:p>
            <a:r>
              <a:rPr lang="en-US" dirty="0"/>
              <a:t>Imports initially needed for developing charging station infrastructures. </a:t>
            </a:r>
          </a:p>
        </p:txBody>
      </p:sp>
      <p:sp>
        <p:nvSpPr>
          <p:cNvPr id="17" name="Text Placeholder 16">
            <a:extLst>
              <a:ext uri="{FF2B5EF4-FFF2-40B4-BE49-F238E27FC236}">
                <a16:creationId xmlns:a16="http://schemas.microsoft.com/office/drawing/2014/main" id="{F0150DF7-4A8B-444C-8CA1-24A9B9191B80}"/>
              </a:ext>
            </a:extLst>
          </p:cNvPr>
          <p:cNvSpPr>
            <a:spLocks noGrp="1"/>
          </p:cNvSpPr>
          <p:nvPr>
            <p:ph type="body" idx="13"/>
          </p:nvPr>
        </p:nvSpPr>
        <p:spPr>
          <a:xfrm>
            <a:off x="1627322" y="1468739"/>
            <a:ext cx="4693726" cy="1132418"/>
          </a:xfrm>
        </p:spPr>
        <p:txBody>
          <a:bodyPr>
            <a:normAutofit/>
          </a:bodyPr>
          <a:lstStyle/>
          <a:p>
            <a:pPr lvl="0"/>
            <a:r>
              <a:rPr lang="en-US" dirty="0"/>
              <a:t>Alternative and Renewable Energy (ARE)Policy</a:t>
            </a:r>
          </a:p>
        </p:txBody>
      </p:sp>
      <p:sp>
        <p:nvSpPr>
          <p:cNvPr id="7" name="Text Placeholder 6">
            <a:extLst>
              <a:ext uri="{FF2B5EF4-FFF2-40B4-BE49-F238E27FC236}">
                <a16:creationId xmlns:a16="http://schemas.microsoft.com/office/drawing/2014/main" id="{D9218E33-9E8A-D249-93A7-9EDFE3BEA503}"/>
              </a:ext>
            </a:extLst>
          </p:cNvPr>
          <p:cNvSpPr>
            <a:spLocks noGrp="1"/>
          </p:cNvSpPr>
          <p:nvPr>
            <p:ph type="body" sz="quarter" idx="3"/>
          </p:nvPr>
        </p:nvSpPr>
        <p:spPr>
          <a:xfrm>
            <a:off x="7067963" y="1571347"/>
            <a:ext cx="4695165" cy="1029809"/>
          </a:xfrm>
        </p:spPr>
        <p:txBody>
          <a:bodyPr>
            <a:normAutofit/>
          </a:bodyPr>
          <a:lstStyle/>
          <a:p>
            <a:pPr lvl="0"/>
            <a:r>
              <a:rPr lang="en-US" dirty="0"/>
              <a:t>National Electric Vehicles (NEV) Policy </a:t>
            </a:r>
          </a:p>
        </p:txBody>
      </p:sp>
    </p:spTree>
    <p:extLst>
      <p:ext uri="{BB962C8B-B14F-4D97-AF65-F5344CB8AC3E}">
        <p14:creationId xmlns:p14="http://schemas.microsoft.com/office/powerpoint/2010/main" val="3843284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27" descr="Woman working at office late at night">
            <a:extLst>
              <a:ext uri="{FF2B5EF4-FFF2-40B4-BE49-F238E27FC236}">
                <a16:creationId xmlns:a16="http://schemas.microsoft.com/office/drawing/2014/main" id="{B7E68695-0DB5-1946-B945-66E677B1128F}"/>
              </a:ext>
            </a:extLst>
          </p:cNvPr>
          <p:cNvPicPr>
            <a:picLocks noGrp="1" noChangeAspect="1"/>
          </p:cNvPicPr>
          <p:nvPr>
            <p:ph type="pic" sz="quarter" idx="13"/>
          </p:nvPr>
        </p:nvPicPr>
        <p:blipFill rotWithShape="1">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31000"/>
                    </a14:imgEffect>
                  </a14:imgLayer>
                </a14:imgProps>
              </a:ext>
              <a:ext uri="{28A0092B-C50C-407E-A947-70E740481C1C}">
                <a14:useLocalDpi xmlns:a14="http://schemas.microsoft.com/office/drawing/2010/main"/>
              </a:ext>
            </a:extLst>
          </a:blip>
          <a:srcRect l="4692" r="4692"/>
          <a:stretch/>
        </p:blipFill>
        <p:spPr>
          <a:xfrm>
            <a:off x="1112959" y="79899"/>
            <a:ext cx="10720975" cy="7000046"/>
          </a:xfrm>
        </p:spPr>
      </p:pic>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a:xfrm>
            <a:off x="1648661" y="79899"/>
            <a:ext cx="4974081" cy="2050742"/>
          </a:xfrm>
        </p:spPr>
        <p:txBody>
          <a:bodyPr/>
          <a:lstStyle/>
          <a:p>
            <a:r>
              <a:rPr lang="en-US" sz="3200" dirty="0"/>
              <a:t>IMF’s EVIRONMENTAL Rhetoric:  </a:t>
            </a:r>
            <a:r>
              <a:rPr lang="en-US" sz="3200" dirty="0" err="1"/>
              <a:t>NAIEVete</a:t>
            </a:r>
            <a:r>
              <a:rPr lang="en-US" sz="3200" dirty="0"/>
              <a:t>  or KNOWING RECKLESSNESS?</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a:xfrm>
            <a:off x="1633099" y="2407298"/>
            <a:ext cx="8499945" cy="3993501"/>
          </a:xfrm>
        </p:spPr>
        <p:txBody>
          <a:bodyPr>
            <a:normAutofit fontScale="70000" lnSpcReduction="20000"/>
          </a:bodyPr>
          <a:lstStyle/>
          <a:p>
            <a:pPr marL="342900" indent="-342900">
              <a:buFontTx/>
              <a:buChar char="-"/>
            </a:pPr>
            <a:r>
              <a:rPr lang="en-US" sz="2400" dirty="0"/>
              <a:t>EFF waxes eloquent about “protecting vulnerable communities” and “stepping up to climate change.” </a:t>
            </a:r>
          </a:p>
          <a:p>
            <a:pPr marL="342900" indent="-342900">
              <a:buFontTx/>
              <a:buChar char="-"/>
            </a:pPr>
            <a:r>
              <a:rPr lang="en-US" sz="2400" dirty="0"/>
              <a:t>E.g. The Fund’s staff statement cites Pakistan’s vulnerability as a “top ten country with the largest damages from climate-related disasters, and top 20 countries with the largest greenhouse gas (GHG) emissions.”</a:t>
            </a:r>
          </a:p>
          <a:p>
            <a:pPr marL="342900" indent="-342900">
              <a:buFontTx/>
              <a:buChar char="-"/>
            </a:pPr>
            <a:r>
              <a:rPr lang="en-US" sz="2400" dirty="0"/>
              <a:t>EFF recommends policy steps such as the “wider use of renewables,” “implementation measures for meeting Pakistan’s COP26 NDC targets,” and the securing of “sufficient financing from international partners” as “critical” priorities for addressing these concerns.</a:t>
            </a:r>
          </a:p>
          <a:p>
            <a:pPr marL="342900" indent="-342900">
              <a:buFontTx/>
              <a:buChar char="-"/>
            </a:pPr>
            <a:r>
              <a:rPr lang="en-US" sz="2400" b="1" dirty="0"/>
              <a:t>BUT</a:t>
            </a:r>
            <a:r>
              <a:rPr lang="en-US" sz="2400" dirty="0"/>
              <a:t> </a:t>
            </a:r>
            <a:r>
              <a:rPr lang="en-US" sz="2400" dirty="0">
                <a:sym typeface="Wingdings" panose="05000000000000000000" pitchFamily="2" charset="2"/>
              </a:rPr>
              <a:t> </a:t>
            </a:r>
            <a:r>
              <a:rPr lang="en-US" sz="2400" dirty="0"/>
              <a:t>Pakistan’s pledge to shift to a 60% renewables-based generation and its goal of 30% electric vehicles are both Nationally Determined Contribution (NDC) targets submitted under the Paris Agreement and COP 26 respectively </a:t>
            </a:r>
            <a:r>
              <a:rPr lang="en-US" sz="2400" b="1" dirty="0"/>
              <a:t>AND</a:t>
            </a:r>
            <a:r>
              <a:rPr lang="en-US" sz="2400" dirty="0"/>
              <a:t> </a:t>
            </a:r>
            <a:r>
              <a:rPr lang="en-US" sz="2400" dirty="0">
                <a:sym typeface="Wingdings" panose="05000000000000000000" pitchFamily="2" charset="2"/>
              </a:rPr>
              <a:t></a:t>
            </a:r>
            <a:r>
              <a:rPr lang="en-US" sz="2400" dirty="0"/>
              <a:t> the new tax regime threatens these very goals</a:t>
            </a:r>
          </a:p>
          <a:p>
            <a:pPr marL="342900" indent="-342900">
              <a:buFontTx/>
              <a:buChar char="-"/>
            </a:pPr>
            <a:r>
              <a:rPr lang="en-US" sz="2400" dirty="0"/>
              <a:t>Part of a historical pattern: Countless studies document the damaging impact of IMF SAP’s on women and vulnerable population </a:t>
            </a:r>
            <a:r>
              <a:rPr lang="en-US" sz="2400" dirty="0">
                <a:sym typeface="Wingdings" panose="05000000000000000000" pitchFamily="2" charset="2"/>
              </a:rPr>
              <a:t> e.g. EFF’s impact on women (source </a:t>
            </a:r>
            <a:r>
              <a:rPr lang="en-US" sz="2400" dirty="0" err="1">
                <a:sym typeface="Wingdings" panose="05000000000000000000" pitchFamily="2" charset="2"/>
              </a:rPr>
              <a:t>Brettonwoods</a:t>
            </a:r>
            <a:r>
              <a:rPr lang="en-US" sz="2400" dirty="0">
                <a:sym typeface="Wingdings" panose="05000000000000000000" pitchFamily="2" charset="2"/>
              </a:rPr>
              <a:t> project)</a:t>
            </a:r>
            <a:endParaRPr lang="en-US" sz="2400" dirty="0"/>
          </a:p>
          <a:p>
            <a:pPr marL="342900" indent="-342900">
              <a:buFontTx/>
              <a:buChar char="-"/>
            </a:pPr>
            <a:endParaRPr lang="en-US" sz="2400" dirty="0"/>
          </a:p>
          <a:p>
            <a:endParaRPr lang="en-US" sz="2400" dirty="0"/>
          </a:p>
        </p:txBody>
      </p:sp>
    </p:spTree>
    <p:extLst>
      <p:ext uri="{BB962C8B-B14F-4D97-AF65-F5344CB8AC3E}">
        <p14:creationId xmlns:p14="http://schemas.microsoft.com/office/powerpoint/2010/main" val="307287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5ECE-2D45-764D-A434-EA4997A38F9E}"/>
              </a:ext>
            </a:extLst>
          </p:cNvPr>
          <p:cNvSpPr>
            <a:spLocks noGrp="1"/>
          </p:cNvSpPr>
          <p:nvPr>
            <p:ph type="ctrTitle"/>
          </p:nvPr>
        </p:nvSpPr>
        <p:spPr>
          <a:xfrm>
            <a:off x="1219451" y="292425"/>
            <a:ext cx="3289101" cy="994837"/>
          </a:xfrm>
        </p:spPr>
        <p:txBody>
          <a:bodyPr/>
          <a:lstStyle/>
          <a:p>
            <a:r>
              <a:rPr lang="en-US" sz="3200" dirty="0"/>
              <a:t>The way forward:</a:t>
            </a:r>
          </a:p>
        </p:txBody>
      </p:sp>
      <p:sp>
        <p:nvSpPr>
          <p:cNvPr id="3" name="Text Placeholder 2">
            <a:extLst>
              <a:ext uri="{FF2B5EF4-FFF2-40B4-BE49-F238E27FC236}">
                <a16:creationId xmlns:a16="http://schemas.microsoft.com/office/drawing/2014/main" id="{96018F6A-34AE-124E-868D-D500FE5002BF}"/>
              </a:ext>
            </a:extLst>
          </p:cNvPr>
          <p:cNvSpPr>
            <a:spLocks noGrp="1"/>
          </p:cNvSpPr>
          <p:nvPr>
            <p:ph type="body" sz="quarter" idx="14"/>
          </p:nvPr>
        </p:nvSpPr>
        <p:spPr>
          <a:xfrm>
            <a:off x="1219451" y="1438183"/>
            <a:ext cx="5517251" cy="5127392"/>
          </a:xfrm>
        </p:spPr>
        <p:txBody>
          <a:bodyPr>
            <a:normAutofit lnSpcReduction="10000"/>
          </a:bodyPr>
          <a:lstStyle/>
          <a:p>
            <a:pPr marL="285750" indent="-285750">
              <a:buFontTx/>
              <a:buChar char="-"/>
            </a:pPr>
            <a:r>
              <a:rPr lang="en-US" sz="1600" dirty="0"/>
              <a:t>These toxic policy outcomes are the result of </a:t>
            </a:r>
            <a:r>
              <a:rPr lang="en-US" sz="1600" b="1" dirty="0"/>
              <a:t>contradictory and self-defeating </a:t>
            </a:r>
            <a:r>
              <a:rPr lang="en-US" sz="1600" dirty="0"/>
              <a:t> </a:t>
            </a:r>
            <a:r>
              <a:rPr lang="en-US" sz="1600" b="1" dirty="0"/>
              <a:t>IMF structural adjustments </a:t>
            </a:r>
            <a:r>
              <a:rPr lang="en-US" sz="1600" dirty="0"/>
              <a:t>and the distortive effects of its lending </a:t>
            </a:r>
            <a:r>
              <a:rPr lang="en-US" sz="1600" dirty="0" err="1"/>
              <a:t>practises</a:t>
            </a:r>
            <a:r>
              <a:rPr lang="en-US" sz="1600" dirty="0"/>
              <a:t>.</a:t>
            </a:r>
          </a:p>
          <a:p>
            <a:pPr marL="285750" indent="-285750">
              <a:buFontTx/>
              <a:buChar char="-"/>
            </a:pPr>
            <a:r>
              <a:rPr lang="en-US" sz="1600" b="1" u="sng" dirty="0"/>
              <a:t>IMF Board must ensure that the taxes on solar, wind, and EV are withdrawn at the earliest!</a:t>
            </a:r>
          </a:p>
          <a:p>
            <a:pPr marL="285750" indent="-285750">
              <a:buFontTx/>
              <a:buChar char="-"/>
            </a:pPr>
            <a:r>
              <a:rPr lang="en-US" sz="1600" b="1" dirty="0"/>
              <a:t>INTERNAL REFORMS NEEEDED IN IMF!</a:t>
            </a:r>
          </a:p>
          <a:p>
            <a:pPr marL="285750" indent="-285750">
              <a:buFontTx/>
              <a:buChar char="-"/>
            </a:pPr>
            <a:r>
              <a:rPr lang="en-US" sz="1600" dirty="0"/>
              <a:t>Mechanisms for making EFF and other loan programs consistent with Pakistan’s environmental policy goals and international climate obligations. </a:t>
            </a:r>
          </a:p>
          <a:p>
            <a:pPr marL="285750" indent="-285750">
              <a:buFontTx/>
              <a:buChar char="-"/>
            </a:pPr>
            <a:r>
              <a:rPr lang="en-US" sz="1600" dirty="0"/>
              <a:t>IMF program dev process is non-transparent, insular, and unrepresentative: C</a:t>
            </a:r>
            <a:r>
              <a:rPr lang="en-US" sz="1600" b="1" dirty="0"/>
              <a:t>onsultations </a:t>
            </a:r>
            <a:r>
              <a:rPr lang="en-US" sz="1600" dirty="0"/>
              <a:t>with vulnerable groups as well as </a:t>
            </a:r>
            <a:r>
              <a:rPr lang="en-US" sz="1600" b="1" dirty="0"/>
              <a:t>independent reviews </a:t>
            </a:r>
            <a:r>
              <a:rPr lang="en-US" sz="1600" dirty="0"/>
              <a:t>of it programs are needed</a:t>
            </a:r>
          </a:p>
          <a:p>
            <a:pPr marL="285750" indent="-285750">
              <a:buFontTx/>
              <a:buChar char="-"/>
            </a:pPr>
            <a:r>
              <a:rPr lang="en-US" sz="1600" dirty="0"/>
              <a:t>Paris Agreement’s goal is to make “finance flows consistent with a pathway towards low greenhouse gas emissions and climate-resilient development” </a:t>
            </a:r>
            <a:r>
              <a:rPr lang="en-US" sz="1600" b="1" dirty="0"/>
              <a:t>IMF needs to develop socially just and green financing solutions for Pakistan.</a:t>
            </a:r>
          </a:p>
          <a:p>
            <a:pPr marL="285750" indent="-285750">
              <a:buFontTx/>
              <a:buChar char="-"/>
            </a:pPr>
            <a:r>
              <a:rPr lang="en-US" sz="1600" b="1" u="sng" dirty="0" err="1"/>
              <a:t>E,g</a:t>
            </a:r>
            <a:r>
              <a:rPr lang="en-US" sz="1600" b="1" u="sng" dirty="0"/>
              <a:t>. Debt-for-Nature Swaps </a:t>
            </a:r>
            <a:r>
              <a:rPr lang="en-US" sz="1600" b="1" dirty="0"/>
              <a:t>to break the poisonous debt cycle </a:t>
            </a:r>
            <a:r>
              <a:rPr lang="en-US" sz="1600" dirty="0"/>
              <a:t>Pakistan is trapped in through years of IMF interventions</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pic>
        <p:nvPicPr>
          <p:cNvPr id="7" name="Picture Placeholder 6">
            <a:extLst>
              <a:ext uri="{FF2B5EF4-FFF2-40B4-BE49-F238E27FC236}">
                <a16:creationId xmlns:a16="http://schemas.microsoft.com/office/drawing/2014/main" id="{172E1B30-93CD-465A-917F-9412412588B6}"/>
              </a:ext>
            </a:extLst>
          </p:cNvPr>
          <p:cNvPicPr>
            <a:picLocks noGrp="1" noChangeAspect="1"/>
          </p:cNvPicPr>
          <p:nvPr>
            <p:ph type="pic" sz="quarter" idx="10"/>
          </p:nvPr>
        </p:nvPicPr>
        <p:blipFill>
          <a:blip r:embed="rId2"/>
          <a:srcRect l="21212" r="21212"/>
          <a:stretch/>
        </p:blipFill>
        <p:spPr>
          <a:xfrm>
            <a:off x="6865400" y="292426"/>
            <a:ext cx="4878057" cy="6273148"/>
          </a:xfrm>
        </p:spPr>
      </p:pic>
    </p:spTree>
    <p:extLst>
      <p:ext uri="{BB962C8B-B14F-4D97-AF65-F5344CB8AC3E}">
        <p14:creationId xmlns:p14="http://schemas.microsoft.com/office/powerpoint/2010/main" val="3480697386"/>
      </p:ext>
    </p:extLst>
  </p:cSld>
  <p:clrMapOvr>
    <a:masterClrMapping/>
  </p:clrMapOvr>
</p:sld>
</file>

<file path=ppt/theme/theme1.xml><?xml version="1.0" encoding="utf-8"?>
<a:theme xmlns:a="http://schemas.openxmlformats.org/drawingml/2006/main" name="Office Theme">
  <a:themeElements>
    <a:clrScheme name="Cool">
      <a:dk1>
        <a:srgbClr val="000000"/>
      </a:dk1>
      <a:lt1>
        <a:srgbClr val="FFFFFF"/>
      </a:lt1>
      <a:dk2>
        <a:srgbClr val="464646"/>
      </a:dk2>
      <a:lt2>
        <a:srgbClr val="FFFFFF"/>
      </a:lt2>
      <a:accent1>
        <a:srgbClr val="15D1BB"/>
      </a:accent1>
      <a:accent2>
        <a:srgbClr val="0FB4DB"/>
      </a:accent2>
      <a:accent3>
        <a:srgbClr val="0D81BB"/>
      </a:accent3>
      <a:accent4>
        <a:srgbClr val="045FC4"/>
      </a:accent4>
      <a:accent5>
        <a:srgbClr val="953FF3"/>
      </a:accent5>
      <a:accent6>
        <a:srgbClr val="C03EF4"/>
      </a:accent6>
      <a:hlink>
        <a:srgbClr val="8F8F8F"/>
      </a:hlink>
      <a:folHlink>
        <a:srgbClr val="A5A5A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our Title goes Here" id="{216E2A47-1B33-481B-B469-F891BA0BB112}" vid="{A834A686-415F-444B-99EF-70560C1C6F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Modern clean sophisticated presentation</Template>
  <TotalTime>172</TotalTime>
  <Words>887</Words>
  <Application>Microsoft Office PowerPoint</Application>
  <PresentationFormat>Widescreen</PresentationFormat>
  <Paragraphs>43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aller_lightregular</vt:lpstr>
      <vt:lpstr>Arial</vt:lpstr>
      <vt:lpstr>Calibri</vt:lpstr>
      <vt:lpstr>Calibri Light</vt:lpstr>
      <vt:lpstr>Sagona ExtraLight</vt:lpstr>
      <vt:lpstr>Speak Pro</vt:lpstr>
      <vt:lpstr>Office Theme</vt:lpstr>
      <vt:lpstr>IMPACTs of the IMF Backed TAX reforms</vt:lpstr>
      <vt:lpstr>Background to the Reforms</vt:lpstr>
      <vt:lpstr>Social and Environmental effects of the new tax on  renewables</vt:lpstr>
      <vt:lpstr>Hinders access to cheap energy for  vulnerable communities </vt:lpstr>
      <vt:lpstr>Reforms are inconsistent with Pakistan’s Environmental policies, and Energy and TRANSPORT SECTOR planning </vt:lpstr>
      <vt:lpstr>IMF’s EVIRONMENTAL Rhetoric:  NAIEVete  or KNOWING RECKLESSNESS?</vt:lpstr>
      <vt:lpstr>The way forward: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of the IMF Backed TAX reforms</dc:title>
  <dc:creator>Syed Moulvi</dc:creator>
  <cp:lastModifiedBy>Syed Moulvi</cp:lastModifiedBy>
  <cp:revision>7</cp:revision>
  <dcterms:created xsi:type="dcterms:W3CDTF">2022-02-01T06:46:45Z</dcterms:created>
  <dcterms:modified xsi:type="dcterms:W3CDTF">2022-02-01T09:38:57Z</dcterms:modified>
</cp:coreProperties>
</file>